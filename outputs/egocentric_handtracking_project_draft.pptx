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33a0deee5c4e91" /><Relationship Type="http://schemas.openxmlformats.org/officeDocument/2006/relationships/extended-properties" Target="/docProps/app.xml" Id="Ra4bb31b1b90842c2" /><Relationship Type="http://schemas.openxmlformats.org/officeDocument/2006/relationships/officeDocument" Target="/ppt/presentation.xml" Id="Rb687f399e84141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990eb3f4d94320"/>
  </p:sldMasterIdLst>
  <p:notesMasterIdLst>
    <p:notesMasterId xmlns:r="http://schemas.openxmlformats.org/officeDocument/2006/relationships" r:id="R4859e6bf7abf48cf"/>
  </p:notesMasterIdLst>
  <p:sldIdLst>
    <p:sldId xmlns:r="http://schemas.openxmlformats.org/officeDocument/2006/relationships" id="256" r:id="Rf46d2da098db4ed5"/>
    <p:sldId xmlns:r="http://schemas.openxmlformats.org/officeDocument/2006/relationships" id="257" r:id="R645a04e6b79d4eda"/>
    <p:sldId xmlns:r="http://schemas.openxmlformats.org/officeDocument/2006/relationships" id="258" r:id="Rd095de96d5f54240"/>
    <p:sldId xmlns:r="http://schemas.openxmlformats.org/officeDocument/2006/relationships" id="259" r:id="R7da184704deb4c51"/>
    <p:sldId xmlns:r="http://schemas.openxmlformats.org/officeDocument/2006/relationships" id="260" r:id="R32da4fcffd0c42ff"/>
    <p:sldId xmlns:r="http://schemas.openxmlformats.org/officeDocument/2006/relationships" id="261" r:id="R5cf2ee80458242f8"/>
    <p:sldId xmlns:r="http://schemas.openxmlformats.org/officeDocument/2006/relationships" id="262" r:id="R7aa0d119b9bc470c"/>
    <p:sldId xmlns:r="http://schemas.openxmlformats.org/officeDocument/2006/relationships" id="263" r:id="Rccbd2c5a85df4c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4ccc9896b9438b" /><Relationship Type="http://schemas.openxmlformats.org/officeDocument/2006/relationships/slideMaster" Target="/ppt/slideMasters/slideMaster1.xml" Id="R64990eb3f4d94320" /><Relationship Type="http://schemas.openxmlformats.org/officeDocument/2006/relationships/notesMaster" Target="/ppt/notesMasters/notesMaster1.xml" Id="R4859e6bf7abf48cf" /><Relationship Type="http://schemas.openxmlformats.org/officeDocument/2006/relationships/presProps" Target="/ppt/presProps.xml" Id="Rd2b547c6e560432e" /><Relationship Type="http://schemas.openxmlformats.org/officeDocument/2006/relationships/tableStyles" Target="/ppt/tableStyles.xml" Id="Re0c78f1d949e4dec" /><Relationship Type="http://schemas.openxmlformats.org/officeDocument/2006/relationships/slide" Target="/ppt/slides/slide1.xml" Id="Rf46d2da098db4ed5" /><Relationship Type="http://schemas.openxmlformats.org/officeDocument/2006/relationships/slide" Target="/ppt/slides/slide2.xml" Id="R645a04e6b79d4eda" /><Relationship Type="http://schemas.openxmlformats.org/officeDocument/2006/relationships/slide" Target="/ppt/slides/slide3.xml" Id="Rd095de96d5f54240" /><Relationship Type="http://schemas.openxmlformats.org/officeDocument/2006/relationships/slide" Target="/ppt/slides/slide4.xml" Id="R7da184704deb4c51" /><Relationship Type="http://schemas.openxmlformats.org/officeDocument/2006/relationships/slide" Target="/ppt/slides/slide5.xml" Id="R32da4fcffd0c42ff" /><Relationship Type="http://schemas.openxmlformats.org/officeDocument/2006/relationships/slide" Target="/ppt/slides/slide6.xml" Id="R5cf2ee80458242f8" /><Relationship Type="http://schemas.openxmlformats.org/officeDocument/2006/relationships/slide" Target="/ppt/slides/slide7.xml" Id="R7aa0d119b9bc470c" /><Relationship Type="http://schemas.openxmlformats.org/officeDocument/2006/relationships/slide" Target="/ppt/slides/slide8.xml" Id="Rccbd2c5a85df4c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88d27a7bb341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e4a5559b3c4f14" /><Relationship Type="http://schemas.openxmlformats.org/officeDocument/2006/relationships/notesMaster" Target="/ppt/notesMasters/notesMaster1.xml" Id="Rb4b0a950bc7a48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4be726e36b4f50" /><Relationship Type="http://schemas.openxmlformats.org/officeDocument/2006/relationships/notesMaster" Target="/ppt/notesMasters/notesMaster1.xml" Id="Rbf9b9344b3d04a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09a84d8dd5475d" /><Relationship Type="http://schemas.openxmlformats.org/officeDocument/2006/relationships/notesMaster" Target="/ppt/notesMasters/notesMaster1.xml" Id="R3181dc085f0645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31cae7da7a4ff5" /><Relationship Type="http://schemas.openxmlformats.org/officeDocument/2006/relationships/notesMaster" Target="/ppt/notesMasters/notesMaster1.xml" Id="R2892062787d743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a32774bf1d40ff" /><Relationship Type="http://schemas.openxmlformats.org/officeDocument/2006/relationships/notesMaster" Target="/ppt/notesMasters/notesMaster1.xml" Id="Rd35cae834e8444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70ec6eacbc4717" /><Relationship Type="http://schemas.openxmlformats.org/officeDocument/2006/relationships/notesMaster" Target="/ppt/notesMasters/notesMaster1.xml" Id="R54a455dd9b364a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3e39d6ae17409e" /><Relationship Type="http://schemas.openxmlformats.org/officeDocument/2006/relationships/notesMaster" Target="/ppt/notesMasters/notesMaster1.xml" Id="R1960ef3d96e84a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0680a1ab724c2e" /><Relationship Type="http://schemas.openxmlformats.org/officeDocument/2006/relationships/notesMaster" Target="/ppt/notesMasters/notesMaster1.xml" Id="Re6296d5ea70d42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a205ac31a46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06093616434323" /><Relationship Type="http://schemas.openxmlformats.org/officeDocument/2006/relationships/slideLayout" Target="/ppt/slideLayouts/slideLayout1.xml" Id="R6c2f178b13ee42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2f178b13ee42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03dcaefa84eac" /><Relationship Type="http://schemas.openxmlformats.org/officeDocument/2006/relationships/notesSlide" Target="/ppt/notesSlides/notesSlide1.xml" Id="R5ca5cabdff9341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0332ba7004073" /><Relationship Type="http://schemas.openxmlformats.org/officeDocument/2006/relationships/notesSlide" Target="/ppt/notesSlides/notesSlide2.xml" Id="Reb310795c97d47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a228d913d49ba" /><Relationship Type="http://schemas.openxmlformats.org/officeDocument/2006/relationships/notesSlide" Target="/ppt/notesSlides/notesSlide3.xml" Id="R06790b58226648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3654b4ea54bf4" /><Relationship Type="http://schemas.openxmlformats.org/officeDocument/2006/relationships/notesSlide" Target="/ppt/notesSlides/notesSlide4.xml" Id="R749b9385102a40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cf310729d457c" /><Relationship Type="http://schemas.openxmlformats.org/officeDocument/2006/relationships/notesSlide" Target="/ppt/notesSlides/notesSlide5.xml" Id="Ra03ae07cb7e047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a1b6f587c4a04" /><Relationship Type="http://schemas.openxmlformats.org/officeDocument/2006/relationships/image" Target="/ppt/media/image.jpeg" Id="Rddb475f3a941452a" /><Relationship Type="http://schemas.openxmlformats.org/officeDocument/2006/relationships/notesSlide" Target="/ppt/notesSlides/notesSlide6.xml" Id="R3f187c271f8640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3454d77824801" /><Relationship Type="http://schemas.openxmlformats.org/officeDocument/2006/relationships/chart" Target="/ppt/slides/charts/chart1.xml" Id="R61e3051518a2469d" /><Relationship Type="http://schemas.openxmlformats.org/officeDocument/2006/relationships/notesSlide" Target="/ppt/notesSlides/notesSlide7.xml" Id="R1ce7ead294e243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7e5d4f9b84fcc" /><Relationship Type="http://schemas.openxmlformats.org/officeDocument/2006/relationships/notesSlide" Target="/ppt/notesSlides/notesSlide8.xml" Id="R35b50b75fe804fde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MAE radians</c:v>
          </c:tx>
          <c:spPr>
            <a:solidFill xmlns:a="http://schemas.openxmlformats.org/drawingml/2006/main">
              <a:srgbClr val="28D94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Wrist roll</c:v>
              </c:pt>
              <c:pt idx="1">
                <c:v>Wrist pitch</c:v>
              </c:pt>
              <c:pt idx="2">
                <c:v>Wrist yaw</c:v>
              </c:pt>
              <c:pt idx="3">
                <c:v>Thumb</c:v>
              </c:pt>
              <c:pt idx="4">
                <c:v>Index</c:v>
              </c:pt>
              <c:pt idx="5">
                <c:v>Middle</c:v>
              </c:pt>
            </c:strLit>
          </c:cat>
          <c:val>
            <c:numLit>
              <c:formatCode>General</c:formatCode>
              <c:ptCount val="6"/>
              <c:pt idx="0">
                <c:v>1.1793</c:v>
              </c:pt>
              <c:pt idx="1">
                <c:v>0.8092</c:v>
              </c:pt>
              <c:pt idx="2">
                <c:v>1.7618</c:v>
              </c:pt>
              <c:pt idx="3">
                <c:v>0.168</c:v>
              </c:pt>
              <c:pt idx="4">
                <c:v>0.187</c:v>
              </c:pt>
              <c:pt idx="5">
                <c:v>0.1313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2D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4E214-7C64-4D20-B47D-4DFE9F6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B5E"/>
                </a:solidFill>
              </a:defRPr>
            </a:pPr>
            <a:r>
              <a:rPr sz="900" b="1">
                <a:solidFill>
                  <a:srgbClr val="244B5E"/>
                </a:solidFill>
              </a:rPr>
              <a:t>DRAFT PROJECT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205D2-80A4-45E3-AD52-55B65A2D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2A"/>
                </a:solidFill>
              </a:defRPr>
            </a:pPr>
            <a:r>
              <a:rPr sz="4350" b="1">
                <a:solidFill>
                  <a:srgbClr val="17202A"/>
                </a:solidFill>
              </a:rPr>
              <a:t>Egocentric Hand Motion To Robot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8DADD-29C6-49AF-87E2-B72BA05C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F73"/>
                </a:solidFill>
              </a:defRPr>
            </a:pPr>
            <a:r>
              <a:rPr sz="1650" b="0">
                <a:solidFill>
                  <a:srgbClr val="5F6F73"/>
                </a:solidFill>
              </a:rPr>
              <a:t>Turning repeated first-person hand videos plus IMU context into smoothed hand intent, averaged motion, and MuJoCo simulation targets.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7E484-4705-47C2-930D-A9B8D040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4F5C0-8462-4834-9380-4512F0D9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Interpolated handouts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C0D33-D5D1-48F5-B5F9-3D40516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005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0E7EF-D2C6-42AE-B585-FD82D91B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67225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Five-finger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837A0-3F7C-44D3-9E4E-8AC7C545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005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A331B-9576-4939-B5B9-71E64B11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67225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Training 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2F045-A754-447D-994A-EFA49BCC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23950"/>
            <a:ext cx="2857500" cy="4095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67538-B807-4951-9D25-26267020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66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91479-A8A8-41AE-B0EC-43955872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D94F"/>
                </a:solidFill>
              </a:defRPr>
            </a:pPr>
            <a:r>
              <a:rPr sz="2550" b="1">
                <a:solidFill>
                  <a:srgbClr val="28D94F"/>
                </a:solidFill>
              </a:rPr>
              <a:t>Working prototype</a:t>
            </a:r>
          </a:p>
          <a:p xmlns:a="http://schemas.openxmlformats.org/drawingml/2006/main">
            <a:pPr algn="l">
              <a:defRPr sz="2550" b="1">
                <a:solidFill>
                  <a:srgbClr val="28D94F"/>
                </a:solidFill>
              </a:defRPr>
            </a:pPr>
            <a:r>
              <a:rPr sz="2550" b="1">
                <a:solidFill>
                  <a:srgbClr val="28D94F"/>
                </a:solidFill>
              </a:rPr>
              <a:t>not robot-ready yet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4150E-BD51-4732-A718-3638A095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576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0EE"/>
                </a:solidFill>
              </a:defRPr>
            </a:pPr>
            <a:r>
              <a:rPr sz="1200" b="0">
                <a:solidFill>
                  <a:srgbClr val="EAF0EE"/>
                </a:solidFill>
              </a:rPr>
              <a:t>The simulation can show the averaged hand motion, now including wrist rotation, while exposing where sensing and modeling still fall short.</a:t>
            </a:r>
          </a:p>
        </p:txBody>
      </p:sp>
    </p:spTree>
    <p:extLst>
      <p:ext uri="{BB962C8B-B14F-4D97-AF65-F5344CB8AC3E}">
        <p14:creationId xmlns:p14="http://schemas.microsoft.com/office/powerpoint/2010/main" val="1099523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D4413A-6721-4BD5-B45D-21F2908F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B5E"/>
                </a:solidFill>
              </a:defRPr>
            </a:pPr>
            <a:r>
              <a:rPr sz="900" b="1">
                <a:solidFill>
                  <a:srgbClr val="244B5E"/>
                </a:solidFill>
              </a:rPr>
              <a:t>STARTING INTUITION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F3C5E-E4F1-44F1-92A6-F0B648A5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The first bet was biological, then practical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C0D32-C25E-4DEB-BCC2-0A2A27FF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08048-9EB2-4037-9B21-85DA952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097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A61EF-27DC-49D2-812C-519D2172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Hand meshes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26D84-CFF9-4980-A15A-2AA847E2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371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F73"/>
                </a:solidFill>
              </a:defRPr>
            </a:pPr>
            <a:r>
              <a:rPr sz="1575" b="0">
                <a:solidFill>
                  <a:srgbClr val="5F6F73"/>
                </a:solidFill>
              </a:rPr>
              <a:t>A full hand mesh should be more faithful than sparse points because real hands are surfaces with anatomical constraints, occlusions, and contact.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21377-EA3F-4575-A5A7-02A9B549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3829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4B4B"/>
                </a:solidFill>
              </a:defRPr>
            </a:pPr>
            <a:r>
              <a:rPr sz="1200" b="1">
                <a:solidFill>
                  <a:srgbClr val="B64B4B"/>
                </a:solidFill>
              </a:rPr>
              <a:t>Left as future work: robust egocentric mesh recovery needs more compute and model tuning than was available for this stage.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6B63E-BC85-4546-B50F-86BEF720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33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21-point tracking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BEFB9-75D2-44AA-A3E4-8712D0A5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81300"/>
            <a:ext cx="371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F73"/>
                </a:solidFill>
              </a:defRPr>
            </a:pPr>
            <a:r>
              <a:rPr sz="1575" b="0">
                <a:solidFill>
                  <a:srgbClr val="5F6F73"/>
                </a:solidFill>
              </a:rPr>
              <a:t>MediaPipe landmarks made the project tractable: enough structure to estimate fingers and palm orientation, light enough to iterate quickly.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D3F5C-6262-4091-82CE-1FE41333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71950"/>
            <a:ext cx="3829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4B5E"/>
                </a:solidFill>
              </a:defRPr>
            </a:pPr>
            <a:r>
              <a:rPr sz="1200" b="1">
                <a:solidFill>
                  <a:srgbClr val="244B5E"/>
                </a:solidFill>
              </a:rPr>
              <a:t>Tradeoff: easier to run, harder to recover metric depth and impossible to fully solve occlusion.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0B345-516D-4FA4-8E83-E518F1D0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73"/>
                </a:solidFill>
              </a:defRPr>
            </a:pPr>
            <a:r>
              <a:rPr sz="825" b="0">
                <a:solidFill>
                  <a:srgbClr val="5F6F73"/>
                </a:solidFill>
              </a:rPr>
              <a:t>Egocentric hand motion to robot simulation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E0AA2-289A-44B9-97D1-9E0B3EA5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F73"/>
                </a:solidFill>
              </a:defRPr>
            </a:pPr>
            <a:r>
              <a:rPr sz="900" b="1">
                <a:solidFill>
                  <a:srgbClr val="5F6F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6651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1EDC72-0DE3-455D-AA4F-49795977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B5E"/>
                </a:solidFill>
              </a:defRPr>
            </a:pPr>
            <a:r>
              <a:rPr sz="900" b="1">
                <a:solidFill>
                  <a:srgbClr val="244B5E"/>
                </a:solidFill>
              </a:rPr>
              <a:t>SYSTEM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124F0-1251-4EF9-9689-48BB5AB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What the pipeline does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0113D-C377-4836-9B3E-3CE96D85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181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5C5C4-CEE1-4481-BC2C-B921FABC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</a:defRPr>
            </a:pPr>
            <a:r>
              <a:rPr sz="1050" b="1">
                <a:solidFill>
                  <a:srgbClr val="17202A"/>
                </a:solidFill>
              </a:rPr>
              <a:t>Video + IMU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3ABA5-1A93-4E9B-B722-DCFAB1BA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432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4B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8DF3C-1F5D-4B55-A6EA-123E87A2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81250"/>
            <a:ext cx="1181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8AA65-0123-4C5B-8C0A-83D7E69D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</a:defRPr>
            </a:pPr>
            <a:r>
              <a:rPr sz="1050" b="1">
                <a:solidFill>
                  <a:srgbClr val="17202A"/>
                </a:solidFill>
              </a:rPr>
              <a:t>MediaPipe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0A191-D66D-4981-B704-632C5FBC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4B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5717A-57E6-49E2-B385-3E0F9AF4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1181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9445F-E77C-45A6-9B71-89725D1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52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</a:defRPr>
            </a:pPr>
            <a:r>
              <a:rPr sz="1050" b="1">
                <a:solidFill>
                  <a:srgbClr val="17202A"/>
                </a:solidFill>
              </a:rPr>
              <a:t>AHRS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9A8FC-A70D-4B2E-B187-86085ED0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432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4B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69A98-6ED4-4082-A94C-3B33BE21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181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5DD5E-3E37-418C-90FB-F7C5F109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</a:defRPr>
            </a:pPr>
            <a:r>
              <a:rPr sz="1050" b="1">
                <a:solidFill>
                  <a:srgbClr val="17202A"/>
                </a:solidFill>
              </a:rPr>
              <a:t>IK smoothing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2D7F3-679A-4853-971E-9B61B852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4B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352A4-67C8-4ACD-9DA1-05522C48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1181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B0F1B-343D-4897-B2B1-3458BAE9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</a:defRPr>
            </a:pPr>
            <a:r>
              <a:rPr sz="1050" b="1">
                <a:solidFill>
                  <a:srgbClr val="17202A"/>
                </a:solidFill>
              </a:rPr>
              <a:t>Full-frame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2E1DC-30B5-457E-9DDD-40A72BC3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4B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16EEE-97C3-409F-B285-EF86058F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1181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409D5-B7BA-4187-9E3F-6F61AACC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</a:defRPr>
            </a:pPr>
            <a:r>
              <a:rPr sz="1050" b="1">
                <a:solidFill>
                  <a:srgbClr val="17202A"/>
                </a:solidFill>
              </a:rPr>
              <a:t>Average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BB350-AAAA-47E4-8780-18DB2BB2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432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4B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6441F-4994-4B06-9D74-B2D4D880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181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D4DC3-15CC-469E-B363-A7068B8B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52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</a:defRPr>
            </a:pPr>
            <a:r>
              <a:rPr sz="1050" b="1">
                <a:solidFill>
                  <a:srgbClr val="17202A"/>
                </a:solidFill>
              </a:rPr>
              <a:t>MuJoCo render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DF772-5DD1-415B-8033-675105AB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971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F6F73"/>
                </a:solidFill>
              </a:defRPr>
            </a:pPr>
            <a:r>
              <a:rPr sz="1800" b="0">
                <a:solidFill>
                  <a:srgbClr val="5F6F73"/>
                </a:solidFill>
              </a:rPr>
              <a:t>The important change is that interpolation happens before dataset construction, so the model sees a complete action timeline instead of only the frames where the detector succeeded.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137167-021C-4619-82A2-C7C15E80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73"/>
                </a:solidFill>
              </a:defRPr>
            </a:pPr>
            <a:r>
              <a:rPr sz="825" b="0">
                <a:solidFill>
                  <a:srgbClr val="5F6F73"/>
                </a:solidFill>
              </a:rPr>
              <a:t>Egocentric hand motion to robot simulation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3BBAE-95AD-491C-8005-22D7BCFE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F73"/>
                </a:solidFill>
              </a:defRPr>
            </a:pPr>
            <a:r>
              <a:rPr sz="900" b="1">
                <a:solidFill>
                  <a:srgbClr val="5F6F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5997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AF9142-CC4B-44A1-9E81-191E6D70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B5E"/>
                </a:solidFill>
              </a:defRPr>
            </a:pPr>
            <a:r>
              <a:rPr sz="900" b="1">
                <a:solidFill>
                  <a:srgbClr val="244B5E"/>
                </a:solidFill>
              </a:rPr>
              <a:t>MISSING FRAMES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A7803-71DA-437E-A4AF-D326308E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The hard part was not detection, it was continuity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2489D-53C0-4D9C-9E16-9D69BDBB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1B135-E882-4C81-9AAD-ACBC98B5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D94F"/>
                </a:solidFill>
              </a:defRPr>
            </a:pPr>
            <a:r>
              <a:rPr sz="3450" b="1">
                <a:solidFill>
                  <a:srgbClr val="28D94F"/>
                </a:solidFill>
              </a:rPr>
              <a:t>7,124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71D54-B437-47AE-9155-00ED1871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</a:defRPr>
            </a:pPr>
            <a:r>
              <a:rPr sz="1125" b="1">
                <a:solidFill>
                  <a:srgbClr val="17202A"/>
                </a:solidFill>
              </a:rPr>
              <a:t>observation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EF449-D5B6-43E2-9BE8-4A612C4F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73"/>
                </a:solidFill>
              </a:defRPr>
            </a:pPr>
            <a:r>
              <a:rPr sz="900" b="0">
                <a:solidFill>
                  <a:srgbClr val="5F6F73"/>
                </a:solidFill>
              </a:rPr>
              <a:t>full-frame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C140B-529A-4B71-A7A9-13D5EDC0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050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B0F1F-7DF4-4C39-9A2C-A3E1267B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95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4B5E"/>
                </a:solidFill>
              </a:defRPr>
            </a:pPr>
            <a:r>
              <a:rPr sz="3450" b="1">
                <a:solidFill>
                  <a:srgbClr val="244B5E"/>
                </a:solidFill>
              </a:rPr>
              <a:t>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E1D50-D140-4C04-A9CA-B4B9265B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</a:defRPr>
            </a:pPr>
            <a:r>
              <a:rPr sz="1125" b="1">
                <a:solidFill>
                  <a:srgbClr val="17202A"/>
                </a:solidFill>
              </a:rPr>
              <a:t>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CC2A5-4844-4C41-95D9-DFDF1E0D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76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73"/>
                </a:solidFill>
              </a:defRPr>
            </a:pPr>
            <a:r>
              <a:rPr sz="900" b="0">
                <a:solidFill>
                  <a:srgbClr val="5F6F73"/>
                </a:solidFill>
              </a:rPr>
              <a:t>landmarks + root + flags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97FEC-4A88-40F7-A1D5-8B7FB793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15E5E-22C2-462B-9FEE-BA202DDC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89B32"/>
                </a:solidFill>
              </a:defRPr>
            </a:pPr>
            <a:r>
              <a:rPr sz="3450" b="1">
                <a:solidFill>
                  <a:srgbClr val="D89B32"/>
                </a:solidFill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4991E-45B0-4293-A29B-49785D31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</a:defRPr>
            </a:pPr>
            <a:r>
              <a:rPr sz="1125" b="1">
                <a:solidFill>
                  <a:srgbClr val="17202A"/>
                </a:solidFill>
              </a:rPr>
              <a:t>videos averaged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A502D-E7B2-4E06-828B-2946FB7D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6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73"/>
                </a:solidFill>
              </a:defRPr>
            </a:pPr>
            <a:r>
              <a:rPr sz="900" b="0">
                <a:solidFill>
                  <a:srgbClr val="5F6F73"/>
                </a:solidFill>
              </a:rPr>
              <a:t>same action family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1BB6D-A918-4BFE-AAA5-C7AC6433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6ADCC-122B-40FB-A513-5EB0E9C8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95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D94F"/>
                </a:solidFill>
              </a:defRPr>
            </a:pPr>
            <a:r>
              <a:rPr sz="3450" b="1">
                <a:solidFill>
                  <a:srgbClr val="28D94F"/>
                </a:solidFill>
              </a:rPr>
              <a:t>360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E6675-825F-4CC8-819F-CA9AEA69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479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</a:defRPr>
            </a:pPr>
            <a:r>
              <a:rPr sz="1125" b="1">
                <a:solidFill>
                  <a:srgbClr val="17202A"/>
                </a:solidFill>
              </a:rPr>
              <a:t>average frames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781D6-F98A-44D5-9C41-F2B1D1C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73"/>
                </a:solidFill>
              </a:defRPr>
            </a:pPr>
            <a:r>
              <a:rPr sz="900" b="0">
                <a:solidFill>
                  <a:srgbClr val="5F6F73"/>
                </a:solidFill>
              </a:rPr>
              <a:t>canonical timeline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EA1BA-A8F1-497E-8B9F-35A7C823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9791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F6F73"/>
                </a:solidFill>
              </a:defRPr>
            </a:pPr>
            <a:r>
              <a:rPr sz="1800" b="0">
                <a:solidFill>
                  <a:srgbClr val="5F6F73"/>
                </a:solidFill>
              </a:rPr>
              <a:t>Each source video still has hundreds of IK-filled frames. That is not hidden; the handout overlays label detected versus interpolated frames so the uncertainty remains visible.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79394-DFB2-4198-8504-FEE94F6C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73"/>
                </a:solidFill>
              </a:defRPr>
            </a:pPr>
            <a:r>
              <a:rPr sz="825" b="0">
                <a:solidFill>
                  <a:srgbClr val="5F6F73"/>
                </a:solidFill>
              </a:rPr>
              <a:t>Egocentric hand motion to robot simulation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F67AF-E25F-405D-81B6-8D0BCC65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F73"/>
                </a:solidFill>
              </a:defRPr>
            </a:pPr>
            <a:r>
              <a:rPr sz="900" b="1">
                <a:solidFill>
                  <a:srgbClr val="5F6F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70487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8EC40F-25A5-4FC5-A828-E9BFDDF1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B5E"/>
                </a:solidFill>
              </a:defRPr>
            </a:pPr>
            <a:r>
              <a:rPr sz="900" b="1">
                <a:solidFill>
                  <a:srgbClr val="244B5E"/>
                </a:solidFill>
              </a:rPr>
              <a:t>LATEST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B82B8-50B4-4F0B-AD84-159770B4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Wrist rotation moved into the motion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6059C-C960-4105-9F1D-E8E092EE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209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9F222-DE93-4A4E-9CC9-D6D65679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527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</a:defRPr>
            </a:pPr>
            <a:r>
              <a:rPr sz="1050" b="1">
                <a:solidFill>
                  <a:srgbClr val="17202A"/>
                </a:solidFill>
              </a:rPr>
              <a:t>AHRS camera attitude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B0D13-385B-4E10-A32E-02FE858E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209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2A81A-1DDD-4084-BA1C-8C8D5F6B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527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</a:defRPr>
            </a:pPr>
            <a:r>
              <a:rPr sz="1050" b="1">
                <a:solidFill>
                  <a:srgbClr val="17202A"/>
                </a:solidFill>
              </a:rPr>
              <a:t>Palm delta from landmarks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FC1D1-A2CD-4604-805C-7420C8AF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09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DBB42-B50C-4BEF-BAC6-9657F62C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527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</a:defRPr>
            </a:pPr>
            <a:r>
              <a:rPr sz="1050" b="1">
                <a:solidFill>
                  <a:srgbClr val="17202A"/>
                </a:solidFill>
              </a:rPr>
              <a:t>Smoothed root quaternion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69B27-E7B9-40F4-9A9C-A6F41022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4B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72025-6BC3-422F-896A-79CD4C04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4B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9E0B9-713A-44BC-AEC4-9A9BD869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8D94F"/>
                </a:solidFill>
              </a:defRPr>
            </a:pPr>
            <a:r>
              <a:rPr sz="3150" b="1">
                <a:solidFill>
                  <a:srgbClr val="28D94F"/>
                </a:solidFill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297BE-C186-458A-BEEF-41B9D64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57625"/>
            <a:ext cx="9105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F6F73"/>
                </a:solidFill>
              </a:defRPr>
            </a:pPr>
            <a:r>
              <a:rPr sz="1800" b="0">
                <a:solidFill>
                  <a:srgbClr val="5F6F73"/>
                </a:solidFill>
              </a:rPr>
              <a:t>The first reliable palm orientation becomes a calibration reference. Later palm poses become relative wrist rotation, composed with IMU/AHRS orientation and smoothed as quaternions.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8F9DA-C781-4249-A2B2-95DB777D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73"/>
                </a:solidFill>
              </a:defRPr>
            </a:pPr>
            <a:r>
              <a:rPr sz="825" b="0">
                <a:solidFill>
                  <a:srgbClr val="5F6F73"/>
                </a:solidFill>
              </a:rPr>
              <a:t>Egocentric hand motion to robot simulation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D6AC0-BE4F-4FDC-91AE-544FF88D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F73"/>
                </a:solidFill>
              </a:defRPr>
            </a:pPr>
            <a:r>
              <a:rPr sz="900" b="1">
                <a:solidFill>
                  <a:srgbClr val="5F6F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652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F008DF-074F-430D-B5DC-5993C05D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B5E"/>
                </a:solidFill>
              </a:defRPr>
            </a:pPr>
            <a:r>
              <a:rPr sz="900" b="1">
                <a:solidFill>
                  <a:srgbClr val="244B5E"/>
                </a:solidFill>
              </a:rPr>
              <a:t>SIMULATION ARTIFACT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7C3D5-9897-425A-9CE4-560957D5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Five-finger render before robot attachment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475f3a941452a"/>
          <a:srcRect xmlns:a="http://schemas.openxmlformats.org/drawingml/2006/main" l="0" t="76" r="0" b="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6953250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A3FCF-AF08-4C62-A1C4-4CB5DF07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524250" cy="3905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9362E-410E-494C-8453-B1CBEEAC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Why Sharpa Wave?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CED8D-A82C-4764-B0A0-351BEF98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2800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F73"/>
                </a:solidFill>
              </a:defRPr>
            </a:pPr>
            <a:r>
              <a:rPr sz="1500" b="0">
                <a:solidFill>
                  <a:srgbClr val="5F6F73"/>
                </a:solidFill>
              </a:rPr>
              <a:t>The available Unitree G1 assets expose wrist joints but not a true five-finger articulated hand. Sharpa Wave from MuJoCo Menagerie gives a five-finger proxy for validating hand motion before robot attachment.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EA0A0-1A0C-4001-B611-16A22AF5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4B5E"/>
                </a:solidFill>
              </a:defRPr>
            </a:pPr>
            <a:r>
              <a:rPr sz="1050" b="1">
                <a:solidFill>
                  <a:srgbClr val="244B5E"/>
                </a:solidFill>
              </a:rPr>
              <a:t>Output: outputs/sharpa_fivefinger_average_motion.mp4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380AF-F116-4AD2-B824-F3867798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73"/>
                </a:solidFill>
              </a:defRPr>
            </a:pPr>
            <a:r>
              <a:rPr sz="825" b="0">
                <a:solidFill>
                  <a:srgbClr val="5F6F73"/>
                </a:solidFill>
              </a:rPr>
              <a:t>Egocentric hand motion to robot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D123F-F91A-4FBC-9A4B-B62D0D41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F73"/>
                </a:solidFill>
              </a:defRPr>
            </a:pPr>
            <a:r>
              <a:rPr sz="900" b="1">
                <a:solidFill>
                  <a:srgbClr val="5F6F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42860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C12DAC-70A8-4673-BBAD-EC040D82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B5E"/>
                </a:solidFill>
              </a:defRPr>
            </a:pPr>
            <a:r>
              <a:rPr sz="900" b="1">
                <a:solidFill>
                  <a:srgbClr val="244B5E"/>
                </a:solidFill>
              </a:rPr>
              <a:t>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291FD-D03A-464C-A207-A0D78C7D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Learning signal: useful, but not yet enough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857250" y="1809750"/>
          <a:ext xmlns:a="http://schemas.openxmlformats.org/drawingml/2006/main" cx="6572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e3051518a2469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4D0A3-40D9-42CD-B660-2D82EC0E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32575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15806-DA52-44EE-925F-B69E11E6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</a:defRPr>
            </a:pPr>
            <a:r>
              <a:rPr sz="1950" b="1">
                <a:solidFill>
                  <a:srgbClr val="17202A"/>
                </a:solidFill>
              </a:rPr>
              <a:t>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4BD4C-3B16-465C-92F7-24AB4479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3200"/>
            <a:ext cx="247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F73"/>
                </a:solidFill>
              </a:defRPr>
            </a:pPr>
            <a:r>
              <a:rPr sz="1500" b="0">
                <a:solidFill>
                  <a:srgbClr val="5F6F73"/>
                </a:solidFill>
              </a:rPr>
              <a:t>The ridge baseline is a sanity check, not the final policy. Once wrist orientation became real, the wrist errors grew, which points toward a temporal model rather than a linear 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8CA20-4A96-4503-AA5B-306380B5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529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B5E"/>
                </a:solidFill>
              </a:defRPr>
            </a:pPr>
            <a:r>
              <a:rPr sz="1125" b="1">
                <a:solidFill>
                  <a:srgbClr val="244B5E"/>
                </a:solidFill>
              </a:rPr>
              <a:t>Next model: GRU, TCN, or small Transformer over smoothed observation windows.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98313-FAEC-4CD9-9F64-9563E95B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73"/>
                </a:solidFill>
              </a:defRPr>
            </a:pPr>
            <a:r>
              <a:rPr sz="825" b="0">
                <a:solidFill>
                  <a:srgbClr val="5F6F73"/>
                </a:solidFill>
              </a:rPr>
              <a:t>Egocentric hand motion to robot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A6E11-D434-43BB-A640-3E8B44D4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F73"/>
                </a:solidFill>
              </a:defRPr>
            </a:pPr>
            <a:r>
              <a:rPr sz="900" b="1">
                <a:solidFill>
                  <a:srgbClr val="5F6F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14840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2FC0AA-F782-4028-979C-4EAD8F6D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B5E"/>
                </a:solidFill>
              </a:defRPr>
            </a:pPr>
            <a:r>
              <a:rPr sz="900" b="1">
                <a:solidFill>
                  <a:srgbClr val="244B5E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064E7-3672-4C56-BAE5-D3E0C395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Limitations are clear, which is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91EB7-496C-4085-BBFE-321D82C3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47625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CCC3C-A818-420A-B70B-AF0784DE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47625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40D5D-642D-4FF4-B15A-AEF2C5B6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Still limited 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F4DDD-A77B-4B31-8841-A5656FB0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3733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F73"/>
                </a:solidFill>
              </a:defRPr>
            </a:pPr>
            <a:r>
              <a:rPr sz="1575" b="0">
                <a:solidFill>
                  <a:srgbClr val="5F6F73"/>
                </a:solidFill>
              </a:rPr>
              <a:t>• Image-normalized depth, not metric 3D</a:t>
            </a:r>
          </a:p>
          <a:p xmlns:a="http://schemas.openxmlformats.org/drawingml/2006/main">
            <a:pPr algn="l">
              <a:defRPr sz="1575" b="0">
                <a:solidFill>
                  <a:srgbClr val="5F6F73"/>
                </a:solidFill>
              </a:defRPr>
            </a:pPr>
            <a:r>
              <a:rPr sz="1575" b="0">
                <a:solidFill>
                  <a:srgbClr val="5F6F73"/>
                </a:solidFill>
              </a:rPr>
              <a:t>• Occlusion in egocentric footage</a:t>
            </a:r>
          </a:p>
          <a:p xmlns:a="http://schemas.openxmlformats.org/drawingml/2006/main">
            <a:pPr algn="l">
              <a:defRPr sz="1575" b="0">
                <a:solidFill>
                  <a:srgbClr val="5F6F73"/>
                </a:solidFill>
              </a:defRPr>
            </a:pPr>
            <a:r>
              <a:rPr sz="1575" b="0">
                <a:solidFill>
                  <a:srgbClr val="5F6F73"/>
                </a:solidFill>
              </a:rPr>
              <a:t>• Simple baseline model</a:t>
            </a:r>
          </a:p>
          <a:p xmlns:a="http://schemas.openxmlformats.org/drawingml/2006/main">
            <a:pPr algn="l">
              <a:defRPr sz="1575" b="0">
                <a:solidFill>
                  <a:srgbClr val="5F6F73"/>
                </a:solidFill>
              </a:defRPr>
            </a:pPr>
            <a:r>
              <a:rPr sz="1575" b="0">
                <a:solidFill>
                  <a:srgbClr val="5F6F73"/>
                </a:solidFill>
              </a:rPr>
              <a:t>• Five-finger proxy, not Unitree embodiment</a:t>
            </a:r>
          </a:p>
          <a:p xmlns:a="http://schemas.openxmlformats.org/drawingml/2006/main">
            <a:pPr algn="l">
              <a:defRPr sz="1575" b="0">
                <a:solidFill>
                  <a:srgbClr val="5F6F73"/>
                </a:solidFill>
              </a:defRPr>
            </a:pPr>
            <a:r>
              <a:rPr sz="1575" b="0">
                <a:solidFill>
                  <a:srgbClr val="5F6F73"/>
                </a:solidFill>
              </a:rPr>
              <a:t>• Standing balance not solved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207E1-03ED-483D-B9C1-2EDB9DCF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7F737-E177-4EF5-B7F1-984A1B14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3733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F73"/>
                </a:solidFill>
              </a:defRPr>
            </a:pPr>
            <a:r>
              <a:rPr sz="1575" b="0">
                <a:solidFill>
                  <a:srgbClr val="5F6F73"/>
                </a:solidFill>
              </a:rPr>
              <a:t>• Store world landmarks and timestamps</a:t>
            </a:r>
          </a:p>
          <a:p xmlns:a="http://schemas.openxmlformats.org/drawingml/2006/main">
            <a:pPr algn="l">
              <a:defRPr sz="1575" b="0">
                <a:solidFill>
                  <a:srgbClr val="5F6F73"/>
                </a:solidFill>
              </a:defRPr>
            </a:pPr>
            <a:r>
              <a:rPr sz="1575" b="0">
                <a:solidFill>
                  <a:srgbClr val="5F6F73"/>
                </a:solidFill>
              </a:rPr>
              <a:t>• Calibrate camera/IMU to robot frame</a:t>
            </a:r>
          </a:p>
          <a:p xmlns:a="http://schemas.openxmlformats.org/drawingml/2006/main">
            <a:pPr algn="l">
              <a:defRPr sz="1575" b="0">
                <a:solidFill>
                  <a:srgbClr val="5F6F73"/>
                </a:solidFill>
              </a:defRPr>
            </a:pPr>
            <a:r>
              <a:rPr sz="1575" b="0">
                <a:solidFill>
                  <a:srgbClr val="5F6F73"/>
                </a:solidFill>
              </a:rPr>
              <a:t>• Train a temporal policy</a:t>
            </a:r>
          </a:p>
          <a:p xmlns:a="http://schemas.openxmlformats.org/drawingml/2006/main">
            <a:pPr algn="l">
              <a:defRPr sz="1575" b="0">
                <a:solidFill>
                  <a:srgbClr val="5F6F73"/>
                </a:solidFill>
              </a:defRPr>
            </a:pPr>
            <a:r>
              <a:rPr sz="1575" b="0">
                <a:solidFill>
                  <a:srgbClr val="5F6F73"/>
                </a:solidFill>
              </a:rPr>
              <a:t>• Add whole-body balance controller</a:t>
            </a:r>
          </a:p>
          <a:p xmlns:a="http://schemas.openxmlformats.org/drawingml/2006/main">
            <a:pPr algn="l">
              <a:defRPr sz="1575" b="0">
                <a:solidFill>
                  <a:srgbClr val="5F6F73"/>
                </a:solidFill>
              </a:defRPr>
            </a:pPr>
            <a:r>
              <a:rPr sz="1575" b="0">
                <a:solidFill>
                  <a:srgbClr val="5F6F73"/>
                </a:solidFill>
              </a:rPr>
              <a:t>• Revisit mesh-based hand recovery with more compute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74DF0-0195-48D5-B9AF-94932346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The prototype now makes the intended motion visible, including uncertainty. That is the right staging point before asking a humanoid robot to imitate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F90DC-4B97-42EF-8A16-953ECD48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73"/>
                </a:solidFill>
              </a:defRPr>
            </a:pPr>
            <a:r>
              <a:rPr sz="825" b="0">
                <a:solidFill>
                  <a:srgbClr val="5F6F73"/>
                </a:solidFill>
              </a:rPr>
              <a:t>Egocentric hand motion to robot simulation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AA907-FDF6-4624-B633-8969354D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F73"/>
                </a:solidFill>
              </a:defRPr>
            </a:pPr>
            <a:r>
              <a:rPr sz="900" b="1">
                <a:solidFill>
                  <a:srgbClr val="5F6F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9223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2026-06-17T20:49:22.8230000Z</dcterms:created>
  <dcterms:modified xsi:type="dcterms:W3CDTF">2026-06-17T20:49:22.8230000Z</dcterms:modified>
</coreProperties>
</file>